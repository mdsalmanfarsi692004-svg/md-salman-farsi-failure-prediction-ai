
<file path=[Content_Types].xml><?xml version="1.0" encoding="utf-8"?>
<Types xmlns="http://schemas.openxmlformats.org/package/2006/content-types">
  <Default Extension="aoail9Ek6QLgerHGFE_HDvTX0JxiQZ5aRBF0-2k4Hfw" ContentType="image/png"/>
  <Default Extension="fntdata" ContentType="application/x-fontdata"/>
  <Default Extension="hLKsANMN_4pzP0yYzawD-ZHdnXnVPcoRHWS3ecrfokk" ContentType="image/png"/>
  <Default Extension="jpeg" ContentType="image/jpeg"/>
  <Default Extension="png" ContentType="image/png"/>
  <Default Extension="rels" ContentType="application/vnd.openxmlformats-package.relationships+xml"/>
  <Default Extension="xhRoObAuwDHIJxnf6IaYWUu4IGs9161NCAdAZRWN_uA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Inter"/>
      <p: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hLKsANMN_4pzP0yYzawD-ZHdnXnVPcoRHWS3ecrfokk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aoail9Ek6QLgerHGFE_HDvTX0JxiQZ5aRBF0-2k4Hfw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xhRoObAuwDHIJxnf6IaYWUu4IGs9161NCAdAZRWN_uA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3287017"/>
            <a:ext cx="8572500" cy="2352675"/>
          </a:xfrm>
          <a:prstGeom prst="roundRect">
            <a:avLst>
              <a:gd name="adj" fmla="val 48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28875" y="4972942"/>
            <a:ext cx="73342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95919" y="1218307"/>
            <a:ext cx="340016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38BDF8"/>
                </a:solidFill>
                <a:latin typeface="Inter"/>
              </a:rPr>
              <a:t>INFOSYS SPRINGBOARD | FINAL </a:t>
            </a:r>
            <a:r>
              <a:rPr lang="en-IN" sz="1350" b="1" dirty="0">
                <a:solidFill>
                  <a:srgbClr val="38BDF8"/>
                </a:solidFill>
                <a:latin typeface="Inter"/>
              </a:rPr>
              <a:t>PRESENTATION</a:t>
            </a:r>
            <a:endParaRPr sz="135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32942" y="1570732"/>
            <a:ext cx="8926115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Inter"/>
              </a:rPr>
              <a:t>Failure Prediction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8102" y="2553592"/>
            <a:ext cx="289579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94A3B8"/>
                </a:solidFill>
                <a:latin typeface="Inter"/>
              </a:rPr>
              <a:t>Startup &amp; Project Risk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93" y="3601342"/>
            <a:ext cx="91678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TEAM C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3760" y="5134867"/>
            <a:ext cx="16044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1" u="none" dirty="0">
                <a:solidFill>
                  <a:srgbClr val="94A3B8"/>
                </a:solidFill>
                <a:latin typeface="Inter"/>
              </a:rPr>
              <a:t>Project Mentor: Sophiya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3071" y="4058542"/>
            <a:ext cx="22026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Inter"/>
              </a:rPr>
              <a:t>Manas Ranjan Sahu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6445" y="4058542"/>
            <a:ext cx="187083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38BDF8"/>
                </a:solidFill>
                <a:latin typeface="Inter"/>
              </a:rPr>
              <a:t>Lakshmi Bhavani</a:t>
            </a:r>
            <a:r>
              <a:rPr lang="en-IN" sz="1500" b="1" i="0" u="none" dirty="0">
                <a:solidFill>
                  <a:srgbClr val="38BDF8"/>
                </a:solidFill>
                <a:latin typeface="Inter"/>
              </a:rPr>
              <a:t> Nakka</a:t>
            </a:r>
            <a:endParaRPr sz="15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6968" y="4501454"/>
            <a:ext cx="144148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1500" b="1" dirty="0">
                <a:solidFill>
                  <a:srgbClr val="38BDF8"/>
                </a:solidFill>
                <a:latin typeface="Inter"/>
              </a:rPr>
              <a:t>  </a:t>
            </a:r>
            <a:r>
              <a:rPr sz="1500" b="1" i="0" u="none" dirty="0">
                <a:solidFill>
                  <a:srgbClr val="38BDF8"/>
                </a:solidFill>
                <a:latin typeface="Inter"/>
              </a:rPr>
              <a:t>Md Salman Farsi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98" y="4501454"/>
            <a:ext cx="1690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Inter"/>
              </a:rPr>
              <a:t>Muskan Anjum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2612" y="366712"/>
            <a:ext cx="866775" cy="276225"/>
          </a:xfrm>
          <a:prstGeom prst="roundRect">
            <a:avLst>
              <a:gd name="adj" fmla="val 13793"/>
            </a:avLst>
          </a:prstGeom>
          <a:solidFill>
            <a:srgbClr val="0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2500" y="1814512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1814512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500" y="2795587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24600" y="2795587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2500" y="3776662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24600" y="3776662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2500" y="4757737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24600" y="4757737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2500" y="5738812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24600" y="5738812"/>
            <a:ext cx="4914900" cy="752475"/>
          </a:xfrm>
          <a:prstGeom prst="roundRect">
            <a:avLst>
              <a:gd name="adj" fmla="val 151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76912" y="423862"/>
            <a:ext cx="733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66687" y="795337"/>
            <a:ext cx="12525375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Inter"/>
              </a:rPr>
              <a:t>Table of Contents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2052637"/>
            <a:ext cx="552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725" y="2076450"/>
            <a:ext cx="2059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Project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052637"/>
            <a:ext cx="6000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9450" y="2076450"/>
            <a:ext cx="1295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Tools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3033712"/>
            <a:ext cx="5905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25" y="3057525"/>
            <a:ext cx="1400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033712"/>
            <a:ext cx="5810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3057525"/>
            <a:ext cx="36075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Milestone 1: Market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4014787"/>
            <a:ext cx="6000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7350" y="4038600"/>
            <a:ext cx="2024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System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25" y="4014787"/>
            <a:ext cx="6000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9450" y="4038600"/>
            <a:ext cx="341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Milestone 2: Risk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0625" y="4995862"/>
            <a:ext cx="6096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5019675"/>
            <a:ext cx="24645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Architecture Diagram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4995862"/>
            <a:ext cx="6000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9450" y="5019675"/>
            <a:ext cx="37742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Milestone 3: Strategic 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0625" y="5976937"/>
            <a:ext cx="5905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7825" y="6000750"/>
            <a:ext cx="25360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Modules Implemented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2725" y="5976937"/>
            <a:ext cx="552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1825" y="6000750"/>
            <a:ext cx="3571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Milestone 4: Cloud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91125" y="927947"/>
            <a:ext cx="1809750" cy="276225"/>
          </a:xfrm>
          <a:prstGeom prst="roundRect">
            <a:avLst>
              <a:gd name="adj" fmla="val 13793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207865"/>
            <a:ext cx="5105400" cy="3724275"/>
          </a:xfrm>
          <a:prstGeom prst="roundRect">
            <a:avLst>
              <a:gd name="adj" fmla="val 30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22615"/>
            <a:ext cx="5105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207865"/>
            <a:ext cx="5105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2207865"/>
            <a:ext cx="57150" cy="3724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7875" y="2207865"/>
            <a:ext cx="9525" cy="37242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2476500"/>
            <a:ext cx="1905000" cy="1905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598390"/>
            <a:ext cx="276225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8636" y="985096"/>
            <a:ext cx="167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Inter"/>
              </a:rPr>
              <a:t>01. THE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354484"/>
            <a:ext cx="6700837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Inter"/>
              </a:rPr>
              <a:t>Project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055590"/>
            <a:ext cx="4371975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Entrepreneurs and startups often invest significant resources without fully understanding risks. 90% of ventures fail due to poor market fit and intense competition.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4855815"/>
            <a:ext cx="4371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Goal: Develop an intelligent decision-support platform providing data-driven insights to guarantee successful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0" y="1228725"/>
            <a:ext cx="1333500" cy="276225"/>
          </a:xfrm>
          <a:prstGeom prst="roundRect">
            <a:avLst>
              <a:gd name="adj" fmla="val 13793"/>
            </a:avLst>
          </a:prstGeom>
          <a:solidFill>
            <a:srgbClr val="0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219200" y="2581275"/>
            <a:ext cx="3048000" cy="30480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0" y="2581275"/>
            <a:ext cx="3048000" cy="30480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24800" y="2581275"/>
            <a:ext cx="3048000" cy="30480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9200" y="5619750"/>
            <a:ext cx="304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9200" y="2581275"/>
            <a:ext cx="3048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9200" y="2581275"/>
            <a:ext cx="9525" cy="304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7675" y="2581275"/>
            <a:ext cx="9525" cy="304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5619750"/>
            <a:ext cx="304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2581275"/>
            <a:ext cx="3048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2581275"/>
            <a:ext cx="9525" cy="304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10475" y="2581275"/>
            <a:ext cx="9525" cy="304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24800" y="5619750"/>
            <a:ext cx="304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24800" y="2581275"/>
            <a:ext cx="3048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24800" y="2581275"/>
            <a:ext cx="9525" cy="304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63275" y="2581275"/>
            <a:ext cx="9525" cy="304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405187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405187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0" y="3405187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43550" y="1285875"/>
            <a:ext cx="1200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02.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85750" y="1657350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4285" y="4090987"/>
            <a:ext cx="263782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Automated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856" y="4452937"/>
            <a:ext cx="321468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Eliminating subjective human bias entirely.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0828" y="4090987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Strategic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8656" y="4452937"/>
            <a:ext cx="321468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AI-generated risk mitigation pathways.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7383" y="4090987"/>
            <a:ext cx="266283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Instant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1456" y="4452937"/>
            <a:ext cx="321468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Real-time visual intelligence for VCs.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91162" y="2038350"/>
            <a:ext cx="1209675" cy="276225"/>
          </a:xfrm>
          <a:prstGeom prst="roundRect">
            <a:avLst>
              <a:gd name="adj" fmla="val 13793"/>
            </a:avLst>
          </a:prstGeom>
          <a:solidFill>
            <a:srgbClr val="262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609" y="4067175"/>
            <a:ext cx="200025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244" y="4067175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879" y="4067175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514" y="4067175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830" y="3543300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465" y="3543300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100" y="3543300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6734" y="3543300"/>
            <a:ext cx="685800" cy="685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0369" y="3543300"/>
            <a:ext cx="685800" cy="685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6330" y="3752850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9015" y="375285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5987" y="3752850"/>
            <a:ext cx="20002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6284" y="375285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0869" y="3752850"/>
            <a:ext cx="3048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05462" y="2095500"/>
            <a:ext cx="1076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03.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85750" y="2466975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System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644" y="4381500"/>
            <a:ext cx="137017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1.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183" y="4657725"/>
            <a:ext cx="1893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Capture project metrics.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2265" y="4381500"/>
            <a:ext cx="160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2. Market 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2974" y="4657725"/>
            <a:ext cx="1678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Analyze TAM &amp; SAM.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4646" y="4381500"/>
            <a:ext cx="166270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3. Risk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406" y="4657725"/>
            <a:ext cx="1881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Generate quant metrics.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277" y="4381500"/>
            <a:ext cx="17127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4. AI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4056" y="4657725"/>
            <a:ext cx="1631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Formulate strategies.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3169" y="4381500"/>
            <a:ext cx="160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5. Final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8394" y="4657725"/>
            <a:ext cx="1809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Render live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1150" y="1514475"/>
            <a:ext cx="1409700" cy="276225"/>
          </a:xfrm>
          <a:prstGeom prst="roundRect">
            <a:avLst>
              <a:gd name="adj" fmla="val 13793"/>
            </a:avLst>
          </a:prstGeom>
          <a:solidFill>
            <a:srgbClr val="25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2867025"/>
            <a:ext cx="247650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05200" y="2867025"/>
            <a:ext cx="247650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867025"/>
            <a:ext cx="247650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15400" y="2867025"/>
            <a:ext cx="247650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5814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350043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950" y="358140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050" y="35814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762" y="3695700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3614737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0" y="3695700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3637" y="3695700"/>
            <a:ext cx="2000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05450" y="1571625"/>
            <a:ext cx="12763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04.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85750" y="1943100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Architecture Diagram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8259" y="4191000"/>
            <a:ext cx="144018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959" y="4467225"/>
            <a:ext cx="2440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Streamlit &amp; HTML/CSS UI layer.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3367" y="4110037"/>
            <a:ext cx="13201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293" y="4386262"/>
            <a:ext cx="2500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Flask Python routing &amp; calculation.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3471" y="4191000"/>
            <a:ext cx="1250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LLM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893" y="4467225"/>
            <a:ext cx="2119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Gemini strategic reasoning.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3557" y="4191000"/>
            <a:ext cx="148018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Inter"/>
              </a:rPr>
              <a:t>Data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7306" y="4467225"/>
            <a:ext cx="2452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PostgreSQL persistent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912" y="1476375"/>
            <a:ext cx="1400175" cy="276225"/>
          </a:xfrm>
          <a:prstGeom prst="roundRect">
            <a:avLst>
              <a:gd name="adj" fmla="val 13793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828925"/>
            <a:ext cx="3403103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3703" y="2828925"/>
            <a:ext cx="3403103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5407" y="2828925"/>
            <a:ext cx="3403103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219575"/>
            <a:ext cx="3403103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93703" y="4219575"/>
            <a:ext cx="3403103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25407" y="4219575"/>
            <a:ext cx="3403103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3981450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000" y="2828925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2828925"/>
            <a:ext cx="38100" cy="1162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55578" y="2828925"/>
            <a:ext cx="9525" cy="1162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93703" y="3981450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3703" y="2828925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93703" y="2828925"/>
            <a:ext cx="38100" cy="1162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87282" y="2828925"/>
            <a:ext cx="9525" cy="1162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5407" y="3981450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5407" y="2828925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25407" y="2828925"/>
            <a:ext cx="38100" cy="1162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18986" y="2828925"/>
            <a:ext cx="9525" cy="1162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2000" y="5372100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2000" y="4219575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2000" y="4219575"/>
            <a:ext cx="38100" cy="11620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55578" y="4219575"/>
            <a:ext cx="9525" cy="1162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93703" y="5372100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93703" y="4219575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93703" y="4219575"/>
            <a:ext cx="38100" cy="116205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87282" y="4219575"/>
            <a:ext cx="9525" cy="1162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25407" y="5372100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25407" y="4219575"/>
            <a:ext cx="34031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25407" y="4219575"/>
            <a:ext cx="38100" cy="116205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418986" y="4219575"/>
            <a:ext cx="9525" cy="1162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10212" y="1533525"/>
            <a:ext cx="1266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05.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285750" y="1905000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Modules Implemented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" y="3067050"/>
            <a:ext cx="38039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1. Idea Collection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" y="3371850"/>
            <a:ext cx="299352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Secure frontend forms to capture metrics.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0403" y="3067050"/>
            <a:ext cx="38039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2. Market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0403" y="3371850"/>
            <a:ext cx="299352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Automated TAM, SAM, and SOM calculations.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2107" y="3067050"/>
            <a:ext cx="38039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3. Risk Assessment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2107" y="3371850"/>
            <a:ext cx="299352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Evaluating multi-pillar risks on 1-5 scale.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4457700"/>
            <a:ext cx="38039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4. SWOT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" y="4762500"/>
            <a:ext cx="299352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Algorithmic deduction of strengths and threats.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0403" y="4457700"/>
            <a:ext cx="38039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5. AI 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0403" y="4762500"/>
            <a:ext cx="362284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Actionable mitigation via LangGraph.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2107" y="4457700"/>
            <a:ext cx="38039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6. Reporting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2107" y="4762500"/>
            <a:ext cx="299352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Fully interactive cloud analytics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10187" y="695325"/>
            <a:ext cx="1571625" cy="276225"/>
          </a:xfrm>
          <a:prstGeom prst="roundRect">
            <a:avLst>
              <a:gd name="adj" fmla="val 13793"/>
            </a:avLst>
          </a:prstGeom>
          <a:solidFill>
            <a:srgbClr val="0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047875"/>
            <a:ext cx="33528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19600" y="2047875"/>
            <a:ext cx="33528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047875"/>
            <a:ext cx="33528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257675"/>
            <a:ext cx="33528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19600" y="4257675"/>
            <a:ext cx="33528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77200" y="4257675"/>
            <a:ext cx="33528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2500312"/>
            <a:ext cx="333375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50031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912" y="2500312"/>
            <a:ext cx="333375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0" y="4710112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4710112"/>
            <a:ext cx="2857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5475" y="4629150"/>
            <a:ext cx="4762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24487" y="752475"/>
            <a:ext cx="14382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06.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85750" y="1123950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Tools &amp; Stack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3336" y="3033712"/>
            <a:ext cx="101012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9415" y="3338512"/>
            <a:ext cx="27979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Core mathematical risk calculations.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8370" y="3033712"/>
            <a:ext cx="20752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Flask &amp; 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1031" y="3338512"/>
            <a:ext cx="3309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API routing and interactive UI frameworks.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3508" y="3033712"/>
            <a:ext cx="146018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693" y="3338512"/>
            <a:ext cx="3071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Relational schema for data persistence.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2036" y="5243512"/>
            <a:ext cx="181272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Google 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5548312"/>
            <a:ext cx="2952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LLM empowering strategic reasoning.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5913" y="5243512"/>
            <a:ext cx="13801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HTML/CSS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5078" y="5548312"/>
            <a:ext cx="3321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Frontend markup for structure and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2252" y="5162550"/>
            <a:ext cx="15626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Render PaaS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756" y="5467350"/>
            <a:ext cx="3595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Inter"/>
              </a:rPr>
              <a:t>Cloud platform for live application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92622"/>
            <a:ext cx="1209675" cy="276225"/>
          </a:xfrm>
          <a:prstGeom prst="roundRect">
            <a:avLst>
              <a:gd name="adj" fmla="val 13793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84227"/>
            <a:ext cx="102108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155852"/>
            <a:ext cx="10210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584227"/>
            <a:ext cx="10210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584227"/>
            <a:ext cx="57150" cy="1581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63275" y="3584227"/>
            <a:ext cx="9525" cy="1581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29860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651027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1749772"/>
            <a:ext cx="1076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MILESTONE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21247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Inter"/>
              </a:rPr>
              <a:t>Data Collection &amp; Market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74627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Establishing the project foundation by securely capturing data and assessing initial market viability.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3898552"/>
            <a:ext cx="11068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Inter"/>
              </a:rPr>
              <a:t>Metrics Achieved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4298602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Inter"/>
              </a:rPr>
              <a:t>Successfully collected and processed project information.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850" y="4651027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Inter"/>
              </a:rPr>
              <a:t>Market and competitor analysis generated correctly.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91162" y="1476375"/>
            <a:ext cx="1209675" cy="276225"/>
          </a:xfrm>
          <a:prstGeom prst="roundRect">
            <a:avLst>
              <a:gd name="adj" fmla="val 13793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981325"/>
            <a:ext cx="2971800" cy="24003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10100" y="3076575"/>
            <a:ext cx="2971800" cy="22098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58200" y="3076575"/>
            <a:ext cx="2971800" cy="22098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0290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4029075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3371850"/>
            <a:ext cx="5143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3467100"/>
            <a:ext cx="40005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346710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05462" y="1533525"/>
            <a:ext cx="1076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MILESTONE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1905000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Workflow &amp;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207" y="4057650"/>
            <a:ext cx="30753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Input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431" y="4419600"/>
            <a:ext cx="292893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Frontend securely captures project budget and target market.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8307" y="4152900"/>
            <a:ext cx="30753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Data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531" y="4514850"/>
            <a:ext cx="292893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Raw metrics stored into PostgreSQL schemas instantly.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6407" y="4152900"/>
            <a:ext cx="30753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Automated Sizing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9631" y="4514850"/>
            <a:ext cx="292893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System evaluates demographics to calculate TAM, SAM, SOM.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33450"/>
            <a:ext cx="11430000" cy="5543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381000"/>
            <a:ext cx="118110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Milestone 1: Project Submission</a:t>
            </a:r>
          </a:p>
        </p:txBody>
      </p:sp>
      <p:pic>
        <p:nvPicPr>
          <p:cNvPr id="5" name="Picture 4" descr="Project Input">
            <a:extLst>
              <a:ext uri="{FF2B5EF4-FFF2-40B4-BE49-F238E27FC236}">
                <a16:creationId xmlns:a16="http://schemas.microsoft.com/office/drawing/2014/main" id="{E011127C-CF4A-FBDD-A1B0-E0D19DCA2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33450"/>
            <a:ext cx="11430000" cy="55544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92622"/>
            <a:ext cx="1238250" cy="276225"/>
          </a:xfrm>
          <a:prstGeom prst="roundRect">
            <a:avLst>
              <a:gd name="adj" fmla="val 13793"/>
            </a:avLst>
          </a:prstGeom>
          <a:solidFill>
            <a:srgbClr val="0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84227"/>
            <a:ext cx="106680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155852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584227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584227"/>
            <a:ext cx="57150" cy="1581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20475" y="3584227"/>
            <a:ext cx="9525" cy="1581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29860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651027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1749772"/>
            <a:ext cx="1104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MILESTONE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21247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Inter"/>
              </a:rPr>
              <a:t>Risk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74627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Transforming raw startup parameters into objective, mathematical feasibility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3898552"/>
            <a:ext cx="11068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Inter"/>
              </a:rPr>
              <a:t>Metrics Achieved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4298602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Inter"/>
              </a:rPr>
              <a:t>Risk scoring model produces consistent evaluations.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850" y="4651027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Inter"/>
              </a:rPr>
              <a:t>SWOT analysis generated successfully for submitted projects.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76875" y="1476375"/>
            <a:ext cx="1238250" cy="276225"/>
          </a:xfrm>
          <a:prstGeom prst="roundRect">
            <a:avLst>
              <a:gd name="adj" fmla="val 13793"/>
            </a:avLst>
          </a:prstGeom>
          <a:solidFill>
            <a:srgbClr val="0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076575"/>
            <a:ext cx="2971800" cy="22098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10100" y="2981325"/>
            <a:ext cx="2971800" cy="24003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58200" y="2981325"/>
            <a:ext cx="2971800" cy="24003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0290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4029075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4671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3371850"/>
            <a:ext cx="3429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337185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91175" y="1533525"/>
            <a:ext cx="1104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MILESTONE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1905000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Workflow &amp;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207" y="4152900"/>
            <a:ext cx="30753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5-Point Risk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431" y="4514850"/>
            <a:ext cx="292893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Evaluating Financial, Technical, and Market risks on a 1-5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8307" y="4057650"/>
            <a:ext cx="30753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Averaging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531" y="4419600"/>
            <a:ext cx="292893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Python logic calculates conclusive Feasibility Percentage.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6407" y="4057650"/>
            <a:ext cx="30753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Inter"/>
              </a:rPr>
              <a:t>SWOT Deduction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9631" y="4419600"/>
            <a:ext cx="292893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Algorithmic thresholds map directly to specific SWOT statements.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33450"/>
            <a:ext cx="11430000" cy="5543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000" y="887922"/>
            <a:ext cx="11439523" cy="55890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381000"/>
            <a:ext cx="118110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Milestone 2: Risk Assessment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92622"/>
            <a:ext cx="1238250" cy="276225"/>
          </a:xfrm>
          <a:prstGeom prst="roundRect">
            <a:avLst>
              <a:gd name="adj" fmla="val 13793"/>
            </a:avLst>
          </a:prstGeom>
          <a:solidFill>
            <a:srgbClr val="262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84227"/>
            <a:ext cx="106680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155852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584227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584227"/>
            <a:ext cx="57150" cy="1581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20475" y="3584227"/>
            <a:ext cx="9525" cy="1581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29860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651027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1749772"/>
            <a:ext cx="1104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MILESTONE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21247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Inter"/>
              </a:rPr>
              <a:t>Strategic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74627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Bridging the gap between static risk scores and dynamic business decisions using Generative AI (Gemini).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3898552"/>
            <a:ext cx="11068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Inter"/>
              </a:rPr>
              <a:t>Metrics Achieved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4298602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59E0B"/>
                </a:solidFill>
                <a:latin typeface="Inter"/>
              </a:rPr>
              <a:t>AI recommendations logically align with identified risks.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850" y="4651027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59E0B"/>
                </a:solidFill>
                <a:latin typeface="Inter"/>
              </a:rPr>
              <a:t>Mitigation strategies generated successfully via LangGraph.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76875" y="2166937"/>
            <a:ext cx="1238250" cy="276225"/>
          </a:xfrm>
          <a:prstGeom prst="roundRect">
            <a:avLst>
              <a:gd name="adj" fmla="val 13793"/>
            </a:avLst>
          </a:prstGeom>
          <a:solidFill>
            <a:srgbClr val="262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91175" y="2224087"/>
            <a:ext cx="1104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MILESTONE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85750" y="2595562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LangGraph Agent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3900487"/>
            <a:ext cx="97536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718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6718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67188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67188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3671887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3824287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824287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3824287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925" y="3824287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7475" y="3824287"/>
            <a:ext cx="1714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3724" y="4281487"/>
            <a:ext cx="12101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1.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48187"/>
            <a:ext cx="13716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Collect project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2326" y="4281487"/>
            <a:ext cx="118014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2.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4681" y="4548187"/>
            <a:ext cx="1595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Evaluate vulnerabilities.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5916" y="4281487"/>
            <a:ext cx="13401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3.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8046" y="4548187"/>
            <a:ext cx="15359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Generate AI strategies.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4519" y="4281487"/>
            <a:ext cx="129016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4.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865" y="4548187"/>
            <a:ext cx="184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Cross-check baseline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8109" y="4281487"/>
            <a:ext cx="14501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5. Report Gen.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6918" y="4548187"/>
            <a:ext cx="1452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Compile final outputs.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33450"/>
            <a:ext cx="11430000" cy="5543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381000"/>
            <a:ext cx="118110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Milestone 3: AI Recommendations</a:t>
            </a:r>
          </a:p>
        </p:txBody>
      </p:sp>
      <p:pic>
        <p:nvPicPr>
          <p:cNvPr id="5" name="Picture 4" descr="AI Recommendations">
            <a:extLst>
              <a:ext uri="{FF2B5EF4-FFF2-40B4-BE49-F238E27FC236}">
                <a16:creationId xmlns:a16="http://schemas.microsoft.com/office/drawing/2014/main" id="{4C8587CA-4FF1-9227-CDD4-6897E5F62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33450"/>
            <a:ext cx="11430000" cy="55152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92622"/>
            <a:ext cx="1247775" cy="276225"/>
          </a:xfrm>
          <a:prstGeom prst="roundRect">
            <a:avLst>
              <a:gd name="adj" fmla="val 13793"/>
            </a:avLst>
          </a:prstGeom>
          <a:solidFill>
            <a:srgbClr val="25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84227"/>
            <a:ext cx="106680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155852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584227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584227"/>
            <a:ext cx="57150" cy="1581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20475" y="3584227"/>
            <a:ext cx="9525" cy="1581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29860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4651027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1749772"/>
            <a:ext cx="1114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MILESTONE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21247"/>
            <a:ext cx="114300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Inter"/>
              </a:rPr>
              <a:t>Dashboard &amp;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74627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Finalizing the live analytics dashboard and deploying the Python architecture to the cloud.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3898552"/>
            <a:ext cx="11068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Inter"/>
              </a:rPr>
              <a:t>Metrics Achieved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4298602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Dashboard fully operational with end-to-end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850" y="4651027"/>
            <a:ext cx="107251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Assessment reports generated well within 5 seconds.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72112" y="1476375"/>
            <a:ext cx="1247775" cy="276225"/>
          </a:xfrm>
          <a:prstGeom prst="roundRect">
            <a:avLst>
              <a:gd name="adj" fmla="val 13793"/>
            </a:avLst>
          </a:prstGeom>
          <a:solidFill>
            <a:srgbClr val="25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24550" y="2828925"/>
            <a:ext cx="5505450" cy="2552700"/>
          </a:xfrm>
          <a:prstGeom prst="roundRect">
            <a:avLst>
              <a:gd name="adj" fmla="val 4477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828925"/>
            <a:ext cx="4857750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219575"/>
            <a:ext cx="4857750" cy="1162050"/>
          </a:xfrm>
          <a:prstGeom prst="roundRect">
            <a:avLst>
              <a:gd name="adj" fmla="val 983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17182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08622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86412" y="1533525"/>
            <a:ext cx="1114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MILESTONE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85750" y="1905000"/>
            <a:ext cx="127635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Inter"/>
              </a:rPr>
              <a:t>Deployment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152775"/>
            <a:ext cx="2195409" cy="230832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lang="en-IN" sz="1500" b="1" i="0" u="none" dirty="0">
                <a:solidFill>
                  <a:srgbClr val="EF4444"/>
                </a:solidFill>
                <a:latin typeface="Inter"/>
              </a:rPr>
              <a:t> </a:t>
            </a:r>
            <a:r>
              <a:rPr sz="1500" b="1" i="0" u="none" dirty="0">
                <a:solidFill>
                  <a:srgbClr val="EF4444"/>
                </a:solidFill>
                <a:latin typeface="Inter"/>
              </a:rPr>
              <a:t>The Cold-Start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457575"/>
            <a:ext cx="495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Deploying on free tiers introduced a "sleep mode" bottleneck causing 50-second delays upon reactivation.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4067175"/>
            <a:ext cx="1237518" cy="230832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lang="en-IN" sz="1500" b="1" i="0" u="none" dirty="0">
                <a:solidFill>
                  <a:srgbClr val="10B981"/>
                </a:solidFill>
                <a:latin typeface="Inter"/>
              </a:rPr>
              <a:t> </a:t>
            </a:r>
            <a:r>
              <a:rPr sz="1500" b="1" i="0" u="none" dirty="0">
                <a:solidFill>
                  <a:srgbClr val="10B981"/>
                </a:solidFill>
                <a:latin typeface="Inter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4371975"/>
            <a:ext cx="495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Integrated </a:t>
            </a:r>
            <a:r>
              <a:rPr sz="1200" b="1" i="0" u="none">
                <a:solidFill>
                  <a:srgbClr val="F8FAFC"/>
                </a:solidFill>
                <a:latin typeface="Inter"/>
              </a:rPr>
              <a:t>UptimeRobot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to programmatically ping our endpoint every 5 minutes, guaranteeing 0s delay and 100% uptime.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067050"/>
            <a:ext cx="57507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1. GitHub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371850"/>
            <a:ext cx="4476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Version control and dependency management (requirements.txt).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457700"/>
            <a:ext cx="57507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2. Cloud 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762500"/>
            <a:ext cx="4476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Deploying the Python architecture via Streamlit Community Cloud.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33450"/>
            <a:ext cx="11430000" cy="5543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381000"/>
            <a:ext cx="118110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Inter"/>
              </a:rPr>
              <a:t>Milestone 4: Risk Analytics Dashboard</a:t>
            </a:r>
          </a:p>
        </p:txBody>
      </p:sp>
      <p:pic>
        <p:nvPicPr>
          <p:cNvPr id="5" name="Picture 4" descr="Dashboard">
            <a:extLst>
              <a:ext uri="{FF2B5EF4-FFF2-40B4-BE49-F238E27FC236}">
                <a16:creationId xmlns:a16="http://schemas.microsoft.com/office/drawing/2014/main" id="{132FD5C9-0948-A944-C673-E2EF21C12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33450"/>
            <a:ext cx="11430000" cy="5543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52712"/>
            <a:ext cx="5105400" cy="2724150"/>
          </a:xfrm>
          <a:prstGeom prst="roundRect">
            <a:avLst>
              <a:gd name="adj" fmla="val 419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652712"/>
            <a:ext cx="5105400" cy="2724150"/>
          </a:xfrm>
          <a:prstGeom prst="roundRect">
            <a:avLst>
              <a:gd name="adj" fmla="val 419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367337"/>
            <a:ext cx="5105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652712"/>
            <a:ext cx="51054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2652712"/>
            <a:ext cx="9525" cy="2724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7875" y="2652712"/>
            <a:ext cx="9525" cy="2724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24600" y="5367337"/>
            <a:ext cx="5105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24600" y="2652712"/>
            <a:ext cx="51054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24600" y="2652712"/>
            <a:ext cx="9525" cy="2724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20475" y="2652712"/>
            <a:ext cx="9525" cy="27241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19550" y="1481137"/>
            <a:ext cx="5450681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Inter"/>
              </a:rPr>
              <a:t>Validation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231" y="3167062"/>
            <a:ext cx="52149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38BDF8"/>
                </a:solidFill>
                <a:latin typeface="Inter"/>
              </a:rPr>
              <a:t>&lt;5s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857" y="4081462"/>
            <a:ext cx="54756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Inter"/>
              </a:rPr>
              <a:t>Report Generation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231" y="4510087"/>
            <a:ext cx="52149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Assessment reports are successfully generated within the 5-second benchmark.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9831" y="3167062"/>
            <a:ext cx="52149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10B981"/>
                </a:solidFill>
                <a:latin typeface="Inter"/>
              </a:rPr>
              <a:t>≥85%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9457" y="4081462"/>
            <a:ext cx="54756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Inter"/>
              </a:rPr>
              <a:t>User Satisfaction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9831" y="4510087"/>
            <a:ext cx="52149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Achieved required CSAT rating during system testing and evaluation.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24300" y="4010025"/>
            <a:ext cx="4343400" cy="676275"/>
          </a:xfrm>
          <a:prstGeom prst="roundRect">
            <a:avLst>
              <a:gd name="adj" fmla="val 1690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33204" y="2171700"/>
            <a:ext cx="4725590" cy="828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8875" y="3228975"/>
            <a:ext cx="73342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Inter"/>
              </a:rPr>
              <a:t>We are now ready for the Live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4781" y="4248150"/>
            <a:ext cx="4262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94A3B8"/>
                </a:solidFill>
                <a:latin typeface="Inter"/>
              </a:rPr>
              <a:t>FAILURE PREDICTION AI | TEAM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766</Words>
  <Application>Microsoft Office PowerPoint</Application>
  <PresentationFormat>Widescreen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Salman Farsi</cp:lastModifiedBy>
  <cp:revision>3</cp:revision>
  <dcterms:created xsi:type="dcterms:W3CDTF">2013-01-27T09:14:16Z</dcterms:created>
  <dcterms:modified xsi:type="dcterms:W3CDTF">2026-10-14T14:56:12Z</dcterms:modified>
  <cp:category/>
</cp:coreProperties>
</file>